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249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rgsp1406@outlook.com" userId="890eb45bcc093b72" providerId="LiveId" clId="{6BEC8C15-276D-4ACD-A9B2-8EF40CA1357F}"/>
    <pc:docChg chg="modSld">
      <pc:chgData name="amargsp1406@outlook.com" userId="890eb45bcc093b72" providerId="LiveId" clId="{6BEC8C15-276D-4ACD-A9B2-8EF40CA1357F}" dt="2026-08-27T01:51:47.862" v="35" actId="20577"/>
      <pc:docMkLst>
        <pc:docMk/>
      </pc:docMkLst>
      <pc:sldChg chg="modSp mod">
        <pc:chgData name="amargsp1406@outlook.com" userId="890eb45bcc093b72" providerId="LiveId" clId="{6BEC8C15-276D-4ACD-A9B2-8EF40CA1357F}" dt="2026-08-27T01:51:47.862" v="35" actId="20577"/>
        <pc:sldMkLst>
          <pc:docMk/>
          <pc:sldMk cId="0" sldId="256"/>
        </pc:sldMkLst>
        <pc:spChg chg="mod">
          <ac:chgData name="amargsp1406@outlook.com" userId="890eb45bcc093b72" providerId="LiveId" clId="{6BEC8C15-276D-4ACD-A9B2-8EF40CA1357F}" dt="2026-08-27T01:51:47.862" v="35" actId="20577"/>
          <ac:spMkLst>
            <pc:docMk/>
            <pc:sldMk cId="0" sldId="256"/>
            <ac:spMk id="2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06440"/>
            <a:ext cx="1417320" cy="1417320"/>
          </a:xfrm>
          <a:prstGeom prst="ellipse">
            <a:avLst/>
          </a:prstGeom>
          <a:solidFill>
            <a:srgbClr val="EF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73152" cy="2057400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22B3E"/>
                </a:solidFill>
                <a:latin typeface="Aptos Display"/>
              </a:rPr>
              <a:t>TRUSTHIRE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81328"/>
            <a:ext cx="5669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430"/>
                </a:solidFill>
                <a:latin typeface="Aptos Display"/>
              </a:rPr>
              <a:t>Intelligent Freelancer Recruitment
&amp; Trust-Aware Hiring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7E79"/>
                </a:solidFill>
                <a:latin typeface="Aptos"/>
              </a:rPr>
              <a:t>SOA PROJECT REVIEW –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5166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4"/>
                </a:solidFill>
                <a:latin typeface="Aptos"/>
              </a:rPr>
              <a:t>A scalable microservices platform for better matching, safer hiring, and transparent project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932688"/>
            <a:ext cx="4343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1234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6974"/>
                </a:solidFill>
                <a:latin typeface="Aptos"/>
              </a:rPr>
              <a:t>THE PRODUCT IDEA</a:t>
            </a:r>
          </a:p>
        </p:txBody>
      </p:sp>
      <p:sp>
        <p:nvSpPr>
          <p:cNvPr id="11" name="Oval 10"/>
          <p:cNvSpPr/>
          <p:nvPr/>
        </p:nvSpPr>
        <p:spPr>
          <a:xfrm>
            <a:off x="8522208" y="2121408"/>
            <a:ext cx="932688" cy="932688"/>
          </a:xfrm>
          <a:prstGeom prst="ellipse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9368" y="2359152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HIRE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0" y="1755648"/>
            <a:ext cx="822960" cy="822960"/>
          </a:xfrm>
          <a:prstGeom prst="ellipse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96912" y="2029967"/>
            <a:ext cx="676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MATCH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0" y="1755648"/>
            <a:ext cx="822960" cy="822960"/>
          </a:xfrm>
          <a:prstGeom prst="ellipse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48672" y="2029967"/>
            <a:ext cx="676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TRUST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3493008"/>
            <a:ext cx="822960" cy="822960"/>
          </a:xfrm>
          <a:prstGeom prst="ellipse">
            <a:avLst/>
          </a:prstGeom>
          <a:solidFill>
            <a:srgbClr val="C99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3767328"/>
            <a:ext cx="676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20" y="2148840"/>
            <a:ext cx="502920" cy="274320"/>
          </a:xfrm>
          <a:prstGeom prst="line">
            <a:avLst/>
          </a:prstGeom>
          <a:ln w="19050">
            <a:solidFill>
              <a:srgbClr val="CF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418320" y="2148840"/>
            <a:ext cx="457200" cy="274320"/>
          </a:xfrm>
          <a:prstGeom prst="line">
            <a:avLst/>
          </a:prstGeom>
          <a:ln w="19050">
            <a:solidFill>
              <a:srgbClr val="CF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61120" y="3054096"/>
            <a:ext cx="0" cy="438912"/>
          </a:xfrm>
          <a:prstGeom prst="line">
            <a:avLst/>
          </a:prstGeom>
          <a:ln w="19050">
            <a:solidFill>
              <a:srgbClr val="CF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" y="3977639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TEAM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475488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100" b="0" dirty="0">
                <a:solidFill>
                  <a:srgbClr val="182430"/>
                </a:solidFill>
                <a:latin typeface="Aptos"/>
              </a:rPr>
              <a:t>DEEKSHITHA</a:t>
            </a:r>
            <a:r>
              <a:rPr sz="1100" b="0" dirty="0">
                <a:solidFill>
                  <a:srgbClr val="182430"/>
                </a:solidFill>
                <a:latin typeface="Aptos"/>
              </a:rPr>
              <a:t>  •  2420030</a:t>
            </a:r>
            <a:r>
              <a:rPr lang="en-IN" sz="1100" b="0" dirty="0">
                <a:solidFill>
                  <a:srgbClr val="182430"/>
                </a:solidFill>
                <a:latin typeface="Aptos"/>
              </a:rPr>
              <a:t>047</a:t>
            </a:r>
            <a:r>
              <a:rPr sz="1100" b="0" dirty="0">
                <a:solidFill>
                  <a:srgbClr val="182430"/>
                </a:solidFill>
                <a:latin typeface="Aptos"/>
              </a:rPr>
              <a:t>
AMARNATH .P  •  2420030483
SUPRAJA GOUD.E  •  2420030357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6634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UNDER THE GUIDANCE 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98348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2430"/>
                </a:solidFill>
                <a:latin typeface="Aptos"/>
              </a:rPr>
              <a:t>NAVYATHA RAVI
Department of Computer Science and Engineering
KLH CSE, Bowrampet Campus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71500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26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57150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ptos"/>
              </a:rPr>
              <a:t>A.Y.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06440"/>
            <a:ext cx="1417320" cy="1417320"/>
          </a:xfrm>
          <a:prstGeom prst="ellipse">
            <a:avLst/>
          </a:prstGeom>
          <a:solidFill>
            <a:srgbClr val="EF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Outline of Project Work</a:t>
            </a:r>
          </a:p>
        </p:txBody>
      </p:sp>
      <p:pic>
        <p:nvPicPr>
          <p:cNvPr id="7" name="Picture 6" descr="klh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73152"/>
            <a:ext cx="749808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05156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6152" y="1078992"/>
            <a:ext cx="27432" cy="475488"/>
          </a:xfrm>
          <a:prstGeom prst="rect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35607" y="1033271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3E"/>
                </a:solidFill>
                <a:latin typeface="Aptos"/>
              </a:rPr>
              <a:t>Problem &amp;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408176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Why freelance hiring needs better matching and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48272" y="1078992"/>
            <a:ext cx="27432" cy="475488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1033271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3E"/>
                </a:solidFill>
                <a:latin typeface="Aptos"/>
              </a:rPr>
              <a:t>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408176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What the platform is designed to achieve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21991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6152" y="2249423"/>
            <a:ext cx="27432" cy="475488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35607" y="2203703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3E"/>
                </a:solidFill>
                <a:latin typeface="Aptos"/>
              </a:rPr>
              <a:t>Existing Landscape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2578608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Research insights from online labor marketplaces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21991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8272" y="2249423"/>
            <a:ext cx="27432" cy="475488"/>
          </a:xfrm>
          <a:prstGeom prst="rect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67728" y="2203703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3E"/>
                </a:solidFill>
                <a:latin typeface="Aptos"/>
              </a:rPr>
              <a:t>Gap Identification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578608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Where current approaches fall short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392424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16152" y="3419856"/>
            <a:ext cx="27432" cy="475488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35607" y="3374136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3E"/>
                </a:solidFill>
                <a:latin typeface="Aptos"/>
              </a:rPr>
              <a:t>Innovation &amp; Novelty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7" y="3749039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TrustHire’s differentiating capabilities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392424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48272" y="3419856"/>
            <a:ext cx="27432" cy="475488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67728" y="3374136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3E"/>
                </a:solidFill>
                <a:latin typeface="Aptos"/>
              </a:rPr>
              <a:t>Architecture &amp;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749039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Microservices, Kafka, security and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56285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6152" y="4590288"/>
            <a:ext cx="27432" cy="475488"/>
          </a:xfrm>
          <a:prstGeom prst="rect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35607" y="4544568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3E"/>
                </a:solidFill>
                <a:latin typeface="Aptos"/>
              </a:rPr>
              <a:t>Feasibility &amp;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5607" y="4919472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Technology stack, phases and delivery timeline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56285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48272" y="4590288"/>
            <a:ext cx="27432" cy="475488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67728" y="4544568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3E"/>
                </a:solidFill>
                <a:latin typeface="Aptos"/>
              </a:rPr>
              <a:t>Conclusion &amp; Future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4919472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Expected impact and next-stage extensions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2430"/>
                </a:solidFill>
                <a:latin typeface="Aptos"/>
              </a:rPr>
              <a:t>Flow: Problem → Objectives → Evidence → Gap → Innovation → Architecture → Feasibility → Future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C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KLH CSE  •  SOA Project Review –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ptos"/>
              </a:rPr>
              <a:t>TrustHire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06440"/>
            <a:ext cx="1417320" cy="1417320"/>
          </a:xfrm>
          <a:prstGeom prst="ellipse">
            <a:avLst/>
          </a:prstGeom>
          <a:solidFill>
            <a:srgbClr val="EF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Problem Statement</a:t>
            </a:r>
          </a:p>
        </p:txBody>
      </p:sp>
      <p:pic>
        <p:nvPicPr>
          <p:cNvPr id="7" name="Picture 6" descr="klh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73152"/>
            <a:ext cx="749808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98755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22B3E"/>
                </a:solidFill>
                <a:latin typeface="Aptos Display"/>
              </a:rPr>
              <a:t>Freelance hiring is fast — but deciding whom to trust is still difficult.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THE DECISION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01952"/>
            <a:ext cx="507492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1488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4884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14884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Keyword-heavy discovery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4712" y="2459736"/>
            <a:ext cx="0" cy="329184"/>
          </a:xfrm>
          <a:prstGeom prst="line">
            <a:avLst/>
          </a:prstGeom>
          <a:ln>
            <a:solidFill>
              <a:srgbClr val="CF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32688" y="28620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6207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862072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Manual proposal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24712" y="3172968"/>
            <a:ext cx="0" cy="329184"/>
          </a:xfrm>
          <a:prstGeom prst="line">
            <a:avLst/>
          </a:prstGeom>
          <a:ln>
            <a:solidFill>
              <a:srgbClr val="CF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2688" y="357530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7530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575304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Hard-to-verify signals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24712" y="3886200"/>
            <a:ext cx="0" cy="329184"/>
          </a:xfrm>
          <a:prstGeom prst="line">
            <a:avLst/>
          </a:prstGeom>
          <a:ln>
            <a:solidFill>
              <a:srgbClr val="CF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2688" y="428853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88536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288536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4"/>
                </a:solidFill>
                <a:latin typeface="Aptos"/>
              </a:rPr>
              <a:t>Uncertain fit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901952"/>
            <a:ext cx="5394960" cy="338328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2157984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RESULTING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615184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615184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430"/>
                </a:solidFill>
                <a:latin typeface="Aptos"/>
              </a:rPr>
              <a:t>Longer time-to-hire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227832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227832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430"/>
                </a:solidFill>
                <a:latin typeface="Aptos"/>
              </a:rPr>
              <a:t>Poor skill–project 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4048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TRUST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840480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430"/>
                </a:solidFill>
                <a:latin typeface="Aptos"/>
              </a:rPr>
              <a:t>Higher uncertainty for first-time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453128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VISIBILITY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453128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430"/>
                </a:solidFill>
                <a:latin typeface="Aptos"/>
              </a:rPr>
              <a:t>Good freelancers can be buried among irrelevant applications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5532120"/>
            <a:ext cx="10287000" cy="502920"/>
          </a:xfrm>
          <a:prstGeom prst="roundRect">
            <a:avLst/>
          </a:prstGeom>
          <a:solidFill>
            <a:srgbClr val="EBF1F1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5660136"/>
            <a:ext cx="9921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2B3E"/>
                </a:solidFill>
                <a:latin typeface="Aptos"/>
              </a:rPr>
              <a:t>Need: structured requirements + explainable matching + trust-aware risk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C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KLH CSE  •  SOA Project Review –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ptos"/>
              </a:rPr>
              <a:t>TrustHire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06440"/>
            <a:ext cx="1417320" cy="1417320"/>
          </a:xfrm>
          <a:prstGeom prst="ellipse">
            <a:avLst/>
          </a:prstGeom>
          <a:solidFill>
            <a:srgbClr val="EF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Objectives</a:t>
            </a:r>
          </a:p>
        </p:txBody>
      </p:sp>
      <p:pic>
        <p:nvPicPr>
          <p:cNvPr id="7" name="Picture 6" descr="klh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73152"/>
            <a:ext cx="749808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9601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2B3E"/>
                </a:solidFill>
                <a:latin typeface="Aptos"/>
              </a:rPr>
              <a:t>Six objectives — one hiring decision 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7276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3E"/>
                </a:solidFill>
                <a:latin typeface="Aptos"/>
              </a:rPr>
              <a:t>Structure the hiring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6596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Convert project descriptions into clear skills, constraints and deliverables.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89888" y="2560320"/>
            <a:ext cx="960120" cy="32004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57276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3E"/>
                </a:solidFill>
                <a:latin typeface="Aptos"/>
              </a:rPr>
              <a:t>Improve candidate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Rank freelancers using skill, experience, portfolio, budget and availability fit.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560320"/>
            <a:ext cx="960120" cy="32004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89864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3E"/>
                </a:solidFill>
                <a:latin typeface="Aptos"/>
              </a:rPr>
              <a:t>Make recommendations explainable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29184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Show why a candidate is recommended instead of exposing only a score.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88" y="3886200"/>
            <a:ext cx="960120" cy="32004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292608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89864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3E"/>
                </a:solidFill>
                <a:latin typeface="Aptos"/>
              </a:rPr>
              <a:t>Build a transparent trust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29184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Combine verification, completion, feedback and history into a trust score.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76288" y="3886200"/>
            <a:ext cx="960120" cy="32004"/>
          </a:xfrm>
          <a:prstGeom prst="rect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2519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22452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3E"/>
                </a:solidFill>
                <a:latin typeface="Aptos"/>
              </a:rPr>
              <a:t>Detect marketplace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61772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Flag suspicious profiles, activity and review patterns for admin investigation.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89888" y="5212080"/>
            <a:ext cx="960120" cy="32004"/>
          </a:xfrm>
          <a:prstGeom prst="rect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42519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422452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3E"/>
                </a:solidFill>
                <a:latin typeface="Aptos"/>
              </a:rPr>
              <a:t>Deliver a scalable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461772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Use microservices, Kafka, secure APIs, CI/CD and cloud-ready infrastructure.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5212080"/>
            <a:ext cx="960120" cy="32004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C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KLH CSE  •  SOA Project Review –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ptos"/>
              </a:rPr>
              <a:t>TrustHire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06440"/>
            <a:ext cx="1417320" cy="1417320"/>
          </a:xfrm>
          <a:prstGeom prst="ellipse">
            <a:avLst/>
          </a:prstGeom>
          <a:solidFill>
            <a:srgbClr val="EF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Literature Survey</a:t>
            </a:r>
          </a:p>
        </p:txBody>
      </p:sp>
      <p:pic>
        <p:nvPicPr>
          <p:cNvPr id="7" name="Picture 6" descr="klh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73152"/>
            <a:ext cx="749808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3E"/>
                </a:solidFill>
                <a:latin typeface="Aptos"/>
              </a:rPr>
              <a:t>Research direction: reputation, trust, and applicant recommendation shape online labor marketplaces.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30759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RESEARCH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307592"/>
            <a:ext cx="3246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WHAT THE STUDY EMPHASIZES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30759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INFERENCE FOR TRUSTHIRE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1627632"/>
            <a:ext cx="54864" cy="804672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62763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3E"/>
                </a:solidFill>
                <a:latin typeface="Aptos"/>
              </a:rPr>
              <a:t>Skill signalling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1938528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Yoganarasimhan · Marketing Science · 2013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627632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82430"/>
                </a:solidFill>
                <a:latin typeface="Aptos"/>
              </a:rPr>
              <a:t>Freelancer reputation and visible signals influence marketplace outcomes.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627632"/>
            <a:ext cx="3657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Trust signals matter, but they do not fully explain project-specific fit.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2706624"/>
            <a:ext cx="54864" cy="804672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2706624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3E"/>
                </a:solidFill>
                <a:latin typeface="Aptos"/>
              </a:rPr>
              <a:t>Online reputation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01752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Luca · Innovation Policy &amp; Economy ·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706624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82430"/>
                </a:solidFill>
                <a:latin typeface="Aptos"/>
              </a:rPr>
              <a:t>Ratings and reviews can affect economic decisions on digital platforms.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706624"/>
            <a:ext cx="3657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Reputation is useful, but ratings alone can be incomplete or noisy.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785615"/>
            <a:ext cx="54864" cy="804672"/>
          </a:xfrm>
          <a:prstGeom prst="rect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785615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3E"/>
                </a:solidFill>
                <a:latin typeface="Aptos"/>
              </a:rPr>
              <a:t>Platform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096511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Gu &amp; Zhu · Management Science · 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785615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82430"/>
                </a:solidFill>
                <a:latin typeface="Aptos"/>
              </a:rPr>
              <a:t>Marketplace design affects how clients and workers find suitable counterparts.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785615"/>
            <a:ext cx="3657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Matching quality is central to platform performance.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4864608"/>
            <a:ext cx="54864" cy="804672"/>
          </a:xfrm>
          <a:prstGeom prst="rect">
            <a:avLst/>
          </a:prstGeom>
          <a:solidFill>
            <a:srgbClr val="C99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4864608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3E"/>
                </a:solidFill>
                <a:latin typeface="Aptos"/>
              </a:rPr>
              <a:t>Hiring &amp; screening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175504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Management Science ·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864608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82430"/>
                </a:solidFill>
                <a:latin typeface="Aptos"/>
              </a:rPr>
              <a:t>Digital labor markets create new opportunities for scalable screening and selection.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864608"/>
            <a:ext cx="3657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974"/>
                </a:solidFill>
                <a:latin typeface="Aptos"/>
              </a:rPr>
              <a:t>Decision support can reduce uncertainty in online hiring.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98932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82430"/>
                </a:solidFill>
                <a:latin typeface="Aptos"/>
              </a:rPr>
              <a:t>Takeaway: existing research supports reputation and matching as important signals; TrustHire combines them with explainability and risk-aware trust.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C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KLH CSE  •  SOA Project Review –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ptos"/>
              </a:rPr>
              <a:t>TrustHire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06440"/>
            <a:ext cx="1417320" cy="1417320"/>
          </a:xfrm>
          <a:prstGeom prst="ellipse">
            <a:avLst/>
          </a:prstGeom>
          <a:solidFill>
            <a:srgbClr val="EF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Problem Gap Identification</a:t>
            </a:r>
          </a:p>
        </p:txBody>
      </p:sp>
      <p:pic>
        <p:nvPicPr>
          <p:cNvPr id="7" name="Picture 6" descr="klh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73152"/>
            <a:ext cx="749808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950976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B3E"/>
                </a:solidFill>
                <a:latin typeface="Aptos"/>
              </a:rPr>
              <a:t>The gap is not another freelancer marketplace — it is the missing decision-support 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6974"/>
                </a:solidFill>
                <a:latin typeface="Aptos"/>
              </a:rPr>
              <a:t>CURRENT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6642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87E79"/>
                </a:solidFill>
                <a:latin typeface="Aptos"/>
              </a:rPr>
              <a:t>TRUSTHIRE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084831"/>
            <a:ext cx="10149840" cy="0"/>
          </a:xfrm>
          <a:prstGeom prst="line">
            <a:avLst/>
          </a:prstGeom>
          <a:ln w="25400">
            <a:solidFill>
              <a:srgbClr val="CF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88720" y="1874519"/>
            <a:ext cx="411480" cy="411480"/>
          </a:xfrm>
          <a:prstGeom prst="ellipse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231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22B3E"/>
                </a:solidFill>
                <a:latin typeface="Aptos"/>
              </a:rPr>
              <a:t>SEARCH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0" y="1874519"/>
            <a:ext cx="411480" cy="411480"/>
          </a:xfrm>
          <a:prstGeom prst="ellipse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22B3E"/>
                </a:solidFill>
                <a:latin typeface="Aptos"/>
              </a:rPr>
              <a:t>RATINGS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1874519"/>
            <a:ext cx="411480" cy="411480"/>
          </a:xfrm>
          <a:prstGeom prst="ellipse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24231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D05C56"/>
                </a:solidFill>
                <a:latin typeface="Aptos"/>
              </a:rPr>
              <a:t>MATCHING</a:t>
            </a:r>
          </a:p>
        </p:txBody>
      </p:sp>
      <p:sp>
        <p:nvSpPr>
          <p:cNvPr id="18" name="Oval 17"/>
          <p:cNvSpPr/>
          <p:nvPr/>
        </p:nvSpPr>
        <p:spPr>
          <a:xfrm>
            <a:off x="8595360" y="1874519"/>
            <a:ext cx="411480" cy="411480"/>
          </a:xfrm>
          <a:prstGeom prst="ellipse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24231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D05C56"/>
                </a:solidFill>
                <a:latin typeface="Aptos"/>
              </a:rPr>
              <a:t>SAFETY</a:t>
            </a:r>
          </a:p>
        </p:txBody>
      </p:sp>
      <p:sp>
        <p:nvSpPr>
          <p:cNvPr id="20" name="Oval 19"/>
          <p:cNvSpPr/>
          <p:nvPr/>
        </p:nvSpPr>
        <p:spPr>
          <a:xfrm>
            <a:off x="10652760" y="1874519"/>
            <a:ext cx="411480" cy="411480"/>
          </a:xfrm>
          <a:prstGeom prst="ellipse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24160" y="24231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ptos"/>
              </a:rPr>
              <a:t>MATCH + EXPLAIN + TRUST + DETECT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29718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18211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50215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Keyword and filter driven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05072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Relevance is often treated as a search problem.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38727" y="29718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03320" y="318211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50215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Reputation as a dominant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005072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A rating does not fully explain project-specific suitability.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29718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318211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0215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Limited decision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05072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A recommendation without reasons is hard to trust.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16567" y="2971800"/>
            <a:ext cx="25146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59" y="318211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350215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Trust and risk handled separately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59" y="4005072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Marketplace quality needs continuous risk-aware monitoring.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" y="5074920"/>
            <a:ext cx="9692640" cy="566928"/>
          </a:xfrm>
          <a:prstGeom prst="roundRect">
            <a:avLst/>
          </a:prstGeom>
          <a:solidFill>
            <a:srgbClr val="122B3E"/>
          </a:solidFill>
          <a:ln w="10160">
            <a:solidFill>
              <a:srgbClr val="12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17320" y="5239512"/>
            <a:ext cx="9326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TrustHire closes the gap with one decision layer:  MATCH  •  EXPLAIN  •  TRUST  •  DETECT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C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KLH CSE  •  SOA Project Review –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ptos"/>
              </a:rPr>
              <a:t>TrustHire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06440"/>
            <a:ext cx="1417320" cy="1417320"/>
          </a:xfrm>
          <a:prstGeom prst="ellipse">
            <a:avLst/>
          </a:prstGeom>
          <a:solidFill>
            <a:srgbClr val="EF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Innovation, Creativity &amp; Novelty</a:t>
            </a:r>
          </a:p>
        </p:txBody>
      </p:sp>
      <p:pic>
        <p:nvPicPr>
          <p:cNvPr id="7" name="Picture 6" descr="klh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73152"/>
            <a:ext cx="749808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950976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3E"/>
                </a:solidFill>
                <a:latin typeface="Aptos"/>
              </a:rPr>
              <a:t>Four engines turn a basic hiring marketplace into a trust-aware recruitment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507492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64008" cy="1783080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6537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MATCH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67128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3E"/>
                </a:solidFill>
                <a:latin typeface="Aptos"/>
              </a:rPr>
              <a:t>Explainable candidate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3383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Skill + experience + portfolio + budget + 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87E79"/>
                </a:solidFill>
                <a:latin typeface="Aptos"/>
              </a:rPr>
              <a:t>93%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664208"/>
            <a:ext cx="507492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6208" y="1664208"/>
            <a:ext cx="64008" cy="1783080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86537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JOB QUALITY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67128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3E"/>
                </a:solidFill>
                <a:latin typeface="Aptos"/>
              </a:rPr>
              <a:t>Requirement completeness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60320"/>
            <a:ext cx="3383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Missing constraints, unclear scope and 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267712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22B3E"/>
                </a:solidFill>
                <a:latin typeface="Aptos"/>
              </a:rPr>
              <a:t>87 / 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794760"/>
            <a:ext cx="507492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8" y="3794760"/>
            <a:ext cx="64008" cy="1783080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995928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TRUST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9768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3E"/>
                </a:solidFill>
                <a:latin typeface="Aptos"/>
              </a:rPr>
              <a:t>Evidence-based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90872"/>
            <a:ext cx="3383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Verification + completion + feedback +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98264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87E79"/>
                </a:solidFill>
                <a:latin typeface="Aptos"/>
              </a:rPr>
              <a:t>89 / 100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94760"/>
            <a:ext cx="507492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36208" y="3794760"/>
            <a:ext cx="64008" cy="1783080"/>
          </a:xfrm>
          <a:prstGeom prst="rect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995928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RISK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9768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3E"/>
                </a:solidFill>
                <a:latin typeface="Aptos"/>
              </a:rPr>
              <a:t>Marketplace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690872"/>
            <a:ext cx="3383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Duplicate profiles, abnormal activity, review patterns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398264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D05C56"/>
                </a:solidFill>
                <a:latin typeface="Aptos"/>
              </a:rPr>
              <a:t>LOW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897880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82430"/>
                </a:solidFill>
                <a:latin typeface="Aptos"/>
              </a:rPr>
              <a:t>Novelty: the platform does not only rank people — it explains fit, measures trust, and watches for marketplace risk.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C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KLH CSE  •  SOA Project Review –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ptos"/>
              </a:rPr>
              <a:t>TrustHire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/>
          <p:cNvSpPr/>
          <p:nvPr/>
        </p:nvSpPr>
        <p:spPr>
          <a:xfrm>
            <a:off x="566928" y="932688"/>
            <a:ext cx="11045952" cy="5285232"/>
          </a:xfrm>
          <a:prstGeom prst="roundRect">
            <a:avLst/>
          </a:prstGeom>
          <a:solidFill>
            <a:srgbClr val="F8F9F8"/>
          </a:solidFill>
          <a:ln w="889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Proposed Architecture &amp; Design</a:t>
            </a:r>
          </a:p>
        </p:txBody>
      </p:sp>
      <p:pic>
        <p:nvPicPr>
          <p:cNvPr id="7" name="Picture 6" descr="klh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73152"/>
            <a:ext cx="749808" cy="256032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C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" y="65105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rial"/>
              </a:rPr>
              <a:t>KLH CSE  •  SOA Project Review –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0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rial"/>
              </a:rPr>
              <a:t>TrustHire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rial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" y="1024128"/>
            <a:ext cx="2286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87C77"/>
                </a:solidFill>
                <a:latin typeface="Arial"/>
              </a:rPr>
              <a:t>TRUSTHIRE — LAYERED SYSTEM ARCHITECTURE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1024128"/>
            <a:ext cx="2788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26D75"/>
                </a:solidFill>
                <a:latin typeface="Arial"/>
              </a:rPr>
              <a:t>Synchronous API  •  Event-driven  •  Persistent 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" y="1389888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01  CLIENT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057400" y="1307592"/>
            <a:ext cx="2788920" cy="713232"/>
          </a:xfrm>
          <a:prstGeom prst="roundRect">
            <a:avLst/>
          </a:prstGeom>
          <a:solidFill>
            <a:srgbClr val="EFF7F6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057400" y="1307592"/>
            <a:ext cx="50292" cy="713232"/>
          </a:xfrm>
          <a:prstGeom prst="rect">
            <a:avLst/>
          </a:prstGeom>
          <a:solidFill>
            <a:srgbClr val="187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194560" y="1399032"/>
            <a:ext cx="2532887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63044"/>
                </a:solidFill>
                <a:latin typeface="Arial"/>
              </a:rPr>
              <a:t>React Web Application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1673352"/>
            <a:ext cx="253288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TypeScript  •  Tailwind CSS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02352" y="1307592"/>
            <a:ext cx="19659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102352" y="1307592"/>
            <a:ext cx="50292" cy="713232"/>
          </a:xfrm>
          <a:prstGeom prst="rect">
            <a:avLst/>
          </a:prstGeom>
          <a:solidFill>
            <a:srgbClr val="187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39512" y="1399032"/>
            <a:ext cx="17099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Client Actions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1673352"/>
            <a:ext cx="1709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Browse • Post • Apply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0" y="1307592"/>
            <a:ext cx="34015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315200" y="1307592"/>
            <a:ext cx="50292" cy="713232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52360" y="1399032"/>
            <a:ext cx="314553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User Roles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52360" y="1673352"/>
            <a:ext cx="314553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Client • Freelancer • Admin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672" y="2359152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02  EDGE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057400" y="2267712"/>
            <a:ext cx="3063240" cy="713232"/>
          </a:xfrm>
          <a:prstGeom prst="roundRect">
            <a:avLst/>
          </a:prstGeom>
          <a:solidFill>
            <a:srgbClr val="EFF3F6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057400" y="2267712"/>
            <a:ext cx="50292" cy="713232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194560" y="2359152"/>
            <a:ext cx="28072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63044"/>
                </a:solidFill>
                <a:latin typeface="Arial"/>
              </a:rPr>
              <a:t>Spring Cloud Gateway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94560" y="2633472"/>
            <a:ext cx="28072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Routing • API entry point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376672" y="2267712"/>
            <a:ext cx="24231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376672" y="2267712"/>
            <a:ext cx="50292" cy="713232"/>
          </a:xfrm>
          <a:prstGeom prst="rect">
            <a:avLst/>
          </a:prstGeom>
          <a:solidFill>
            <a:srgbClr val="B5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513832" y="2359152"/>
            <a:ext cx="21671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Spring Security + JWT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13832" y="2633472"/>
            <a:ext cx="21671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Authentication • RBAC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065008" y="2267712"/>
            <a:ext cx="26517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065008" y="2267712"/>
            <a:ext cx="50292" cy="713232"/>
          </a:xfrm>
          <a:prstGeom prst="rect">
            <a:avLst/>
          </a:prstGeom>
          <a:solidFill>
            <a:srgbClr val="187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202168" y="2359152"/>
            <a:ext cx="23957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Eureka Server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02168" y="2633472"/>
            <a:ext cx="23957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Service discovery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" y="3310128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03  CORE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011680" y="3182112"/>
            <a:ext cx="148132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011680" y="3182112"/>
            <a:ext cx="50292" cy="841248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148840" y="3273552"/>
            <a:ext cx="12252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Auth Service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48840" y="3547872"/>
            <a:ext cx="12252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users • roles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749039" y="3182112"/>
            <a:ext cx="148132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749039" y="3182112"/>
            <a:ext cx="50292" cy="841248"/>
          </a:xfrm>
          <a:prstGeom prst="rect">
            <a:avLst/>
          </a:prstGeom>
          <a:solidFill>
            <a:srgbClr val="187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886200" y="3273552"/>
            <a:ext cx="12252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User Service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86200" y="3547872"/>
            <a:ext cx="12252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profiles • skills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486400" y="3182112"/>
            <a:ext cx="148132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5486400" y="3182112"/>
            <a:ext cx="50292" cy="841248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623560" y="3273552"/>
            <a:ext cx="12252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Job Service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23560" y="3547872"/>
            <a:ext cx="12252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requirements • jobs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223760" y="3182112"/>
            <a:ext cx="148132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223760" y="3182112"/>
            <a:ext cx="50292" cy="841248"/>
          </a:xfrm>
          <a:prstGeom prst="rect">
            <a:avLst/>
          </a:prstGeom>
          <a:solidFill>
            <a:srgbClr val="187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360920" y="3273552"/>
            <a:ext cx="12252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Proposal Service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60920" y="3547872"/>
            <a:ext cx="12252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applications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043416" y="3191256"/>
            <a:ext cx="148132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9037147" y="3163824"/>
            <a:ext cx="50292" cy="841248"/>
          </a:xfrm>
          <a:prstGeom prst="rect">
            <a:avLst/>
          </a:prstGeom>
          <a:solidFill>
            <a:srgbClr val="B5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171432" y="3311956"/>
            <a:ext cx="12252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163044"/>
                </a:solidFill>
                <a:latin typeface="Arial"/>
              </a:rPr>
              <a:t>Review Service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230868" y="3566160"/>
            <a:ext cx="12252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626D75"/>
                </a:solidFill>
                <a:latin typeface="Arial"/>
              </a:rPr>
              <a:t>ratings • feedback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4672" y="4480560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04  INTELLIGENCE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011680" y="4352544"/>
            <a:ext cx="3017520" cy="859536"/>
          </a:xfrm>
          <a:prstGeom prst="roundRect">
            <a:avLst/>
          </a:prstGeom>
          <a:solidFill>
            <a:srgbClr val="F9F6ED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011680" y="4352544"/>
            <a:ext cx="50292" cy="859536"/>
          </a:xfrm>
          <a:prstGeom prst="rect">
            <a:avLst/>
          </a:prstGeom>
          <a:solidFill>
            <a:srgbClr val="BE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148840" y="4443983"/>
            <a:ext cx="2761487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63044"/>
                </a:solidFill>
                <a:latin typeface="Arial"/>
              </a:rPr>
              <a:t>Apache Kafka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18304"/>
            <a:ext cx="2761487" cy="4389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Job • Proposal • Hiring • Review events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257800" y="4352544"/>
            <a:ext cx="2148840" cy="859536"/>
          </a:xfrm>
          <a:prstGeom prst="roundRect">
            <a:avLst/>
          </a:prstGeom>
          <a:solidFill>
            <a:srgbClr val="EFF7F6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5257800" y="4352544"/>
            <a:ext cx="50292" cy="859536"/>
          </a:xfrm>
          <a:prstGeom prst="rect">
            <a:avLst/>
          </a:prstGeom>
          <a:solidFill>
            <a:srgbClr val="187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394960" y="4443983"/>
            <a:ext cx="18928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Match Engine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394960" y="4718304"/>
            <a:ext cx="1892808" cy="4389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Fit • ranking • explainability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635240" y="4352544"/>
            <a:ext cx="2148840" cy="859536"/>
          </a:xfrm>
          <a:prstGeom prst="roundRect">
            <a:avLst/>
          </a:prstGeom>
          <a:solidFill>
            <a:srgbClr val="FBF2F2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7635240" y="4352544"/>
            <a:ext cx="50292" cy="859536"/>
          </a:xfrm>
          <a:prstGeom prst="rect">
            <a:avLst/>
          </a:prstGeom>
          <a:solidFill>
            <a:srgbClr val="B5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772400" y="4443983"/>
            <a:ext cx="18928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Trust &amp; Risk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772400" y="4718304"/>
            <a:ext cx="1892808" cy="4389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Trust score • anomaly flags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0012680" y="4352544"/>
            <a:ext cx="1618488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012680" y="4352544"/>
            <a:ext cx="50292" cy="859536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149840" y="4443983"/>
            <a:ext cx="13624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Notifications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49840" y="4718304"/>
            <a:ext cx="1362456" cy="4389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email • in-app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04672" y="5532120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05  DATA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011680" y="5376672"/>
            <a:ext cx="297180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2011680" y="5376672"/>
            <a:ext cx="50292" cy="640080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148840" y="5468112"/>
            <a:ext cx="27157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PostgreSQL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48840" y="5742432"/>
            <a:ext cx="2715768" cy="2194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Marketplace + transaction data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230368" y="5376672"/>
            <a:ext cx="21031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230368" y="5376672"/>
            <a:ext cx="50292" cy="640080"/>
          </a:xfrm>
          <a:prstGeom prst="rect">
            <a:avLst/>
          </a:prstGeom>
          <a:solidFill>
            <a:srgbClr val="187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367528" y="5468112"/>
            <a:ext cx="1847087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Docker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367528" y="5742432"/>
            <a:ext cx="1847087" cy="2194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Containerized services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543800" y="5376672"/>
            <a:ext cx="21031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7543800" y="5376672"/>
            <a:ext cx="50292" cy="640080"/>
          </a:xfrm>
          <a:prstGeom prst="rect">
            <a:avLst/>
          </a:prstGeom>
          <a:solidFill>
            <a:srgbClr val="BE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680960" y="5468112"/>
            <a:ext cx="1847087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GitHub Actions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680960" y="5742432"/>
            <a:ext cx="1847087" cy="2194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Build • test • deploy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857232" y="5376672"/>
            <a:ext cx="1773936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9857232" y="5376672"/>
            <a:ext cx="50292" cy="640080"/>
          </a:xfrm>
          <a:prstGeom prst="rect">
            <a:avLst/>
          </a:prstGeom>
          <a:solidFill>
            <a:srgbClr val="B5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994392" y="5468112"/>
            <a:ext cx="15179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63044"/>
                </a:solidFill>
                <a:latin typeface="Arial"/>
              </a:rPr>
              <a:t>AWS + Terraform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994392" y="5742432"/>
            <a:ext cx="1517904" cy="2194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6D75"/>
                </a:solidFill>
                <a:latin typeface="Arial"/>
              </a:rPr>
              <a:t>Cloud infrastructure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06440"/>
            <a:ext cx="1417320" cy="1417320"/>
          </a:xfrm>
          <a:prstGeom prst="ellipse">
            <a:avLst/>
          </a:prstGeom>
          <a:solidFill>
            <a:srgbClr val="EF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Feasibility &amp; Project Plan</a:t>
            </a:r>
          </a:p>
        </p:txBody>
      </p:sp>
      <p:pic>
        <p:nvPicPr>
          <p:cNvPr id="7" name="Picture 6" descr="klh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73152"/>
            <a:ext cx="749808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960120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TECHNICAL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261872"/>
            <a:ext cx="3246120" cy="36576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481328"/>
            <a:ext cx="3246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82430"/>
                </a:solidFill>
                <a:latin typeface="Aptos"/>
              </a:rPr>
              <a:t>Java + Spring Boot
Eureka + Gateway + Kafka
PostgreSQL + JPA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960120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1261872"/>
            <a:ext cx="3246120" cy="36576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481328"/>
            <a:ext cx="3246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82430"/>
                </a:solidFill>
                <a:latin typeface="Aptos"/>
              </a:rPr>
              <a:t>Incremental service scope
Core platform before intelligence
JUnit 5 + Mockito + Postman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960120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2752" y="1261872"/>
            <a:ext cx="3246120" cy="36576"/>
          </a:xfrm>
          <a:prstGeom prst="rect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481328"/>
            <a:ext cx="3246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82430"/>
                </a:solidFill>
                <a:latin typeface="Aptos"/>
              </a:rPr>
              <a:t>AWS-ready architecture
Terraform for reproducibility
Docker + CI/CD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81635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6974"/>
                </a:solidFill>
                <a:latin typeface="Aptos"/>
              </a:rPr>
              <a:t>PHASED DELIVERY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57600"/>
            <a:ext cx="175564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37947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096512"/>
            <a:ext cx="1499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443984"/>
            <a:ext cx="149961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Requirements, UX, schema, boundaries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32887" y="3657600"/>
            <a:ext cx="175564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60903" y="37947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0903" y="4096512"/>
            <a:ext cx="1499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Core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0903" y="4443984"/>
            <a:ext cx="149961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Auth, profiles, jobs, proposals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7" y="3657600"/>
            <a:ext cx="175564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5423" y="37947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3" y="4096512"/>
            <a:ext cx="1499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Hiring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3" y="4443984"/>
            <a:ext cx="149961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Shortlisting, contracts, milestones, reviews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7" y="3657600"/>
            <a:ext cx="175564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9943" y="37947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5C56"/>
                </a:solidFill>
                <a:latin typeface="Aptos"/>
              </a:rPr>
              <a:t>P4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3" y="4096512"/>
            <a:ext cx="1499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3" y="4443984"/>
            <a:ext cx="149961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Matching, job quality, skill gap, trust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3657600"/>
            <a:ext cx="175564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84464" y="37947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P5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4096512"/>
            <a:ext cx="1499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Risk + 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443984"/>
            <a:ext cx="149961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Kafka, notifications, risk detection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30968" y="3657600"/>
            <a:ext cx="175564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58984" y="37947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P6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8984" y="4096512"/>
            <a:ext cx="1499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2B3E"/>
                </a:solidFill>
                <a:latin typeface="Aptos"/>
              </a:rPr>
              <a:t>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58984" y="4443984"/>
            <a:ext cx="149961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Testing, Docker, CI/CD, AWS, demo hardening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82430"/>
                </a:solidFill>
                <a:latin typeface="Aptos"/>
              </a:rPr>
              <a:t>Delivery principle: build the marketplace first; add intelligence and risk as independent services without blocking the core hiring flow.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C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KLH CSE  •  SOA Project Review –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ptos"/>
              </a:rPr>
              <a:t>TrustHire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-502920"/>
            <a:ext cx="2011680" cy="2011680"/>
          </a:xfrm>
          <a:prstGeom prst="ellipse">
            <a:avLst/>
          </a:prstGeom>
          <a:solidFill>
            <a:srgbClr val="E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06440"/>
            <a:ext cx="1417320" cy="1417320"/>
          </a:xfrm>
          <a:prstGeom prst="ellipse">
            <a:avLst/>
          </a:prstGeom>
          <a:solidFill>
            <a:srgbClr val="EF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Conclusion &amp; Future Work</a:t>
            </a:r>
          </a:p>
        </p:txBody>
      </p:sp>
      <p:pic>
        <p:nvPicPr>
          <p:cNvPr id="7" name="Picture 6" descr="klh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73152"/>
            <a:ext cx="749808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9601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2B3E"/>
                </a:solidFill>
                <a:latin typeface="Aptos"/>
              </a:rPr>
              <a:t>TrustHire is a decision-support layer for freelance recruitment — not just another job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828800"/>
            <a:ext cx="54864" cy="1417320"/>
          </a:xfrm>
          <a:prstGeom prst="rect">
            <a:avLst/>
          </a:prstGeom>
          <a:solidFill>
            <a:srgbClr val="18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470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7E79"/>
                </a:solidFill>
                <a:latin typeface="Aptos"/>
              </a:rPr>
              <a:t>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267712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430"/>
                </a:solidFill>
                <a:latin typeface="Aptos"/>
              </a:rPr>
              <a:t>Reduce manual screening with structured requirements and ranked candidates.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828800"/>
            <a:ext cx="54864" cy="1417320"/>
          </a:xfrm>
          <a:prstGeom prst="rect">
            <a:avLst/>
          </a:prstGeom>
          <a:solidFill>
            <a:srgbClr val="D0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8470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05C56"/>
                </a:solidFill>
                <a:latin typeface="Aptos"/>
              </a:rPr>
              <a:t>SAFER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67712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430"/>
                </a:solidFill>
                <a:latin typeface="Aptos"/>
              </a:rPr>
              <a:t>Use trust signals and risk analysis to reduce marketplace uncertainty.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1828800"/>
            <a:ext cx="54864" cy="1417320"/>
          </a:xfrm>
          <a:prstGeom prst="rect">
            <a:avLst/>
          </a:prstGeom>
          <a:solidFill>
            <a:srgbClr val="12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8470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B3E"/>
                </a:solidFill>
                <a:latin typeface="Aptos"/>
              </a:rPr>
              <a:t>CLEARER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267712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430"/>
                </a:solidFill>
                <a:latin typeface="Aptos"/>
              </a:rPr>
              <a:t>Explain why candidates match and where skill gaps remain.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703320"/>
            <a:ext cx="51663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931920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7E79"/>
                </a:solidFill>
                <a:latin typeface="Aptos"/>
              </a:rPr>
              <a:t>FUTURE EXTENSIONS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79392"/>
            <a:ext cx="4526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>
                <a:solidFill>
                  <a:srgbClr val="182430"/>
                </a:solidFill>
                <a:latin typeface="Aptos"/>
              </a:rPr>
              <a:t>• Semantic / embedding-based matching with stronger explainability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>
                <a:solidFill>
                  <a:srgbClr val="182430"/>
                </a:solidFill>
                <a:latin typeface="Aptos"/>
              </a:rPr>
              <a:t>• Graph-based fraud and review-manipulation detection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>
                <a:solidFill>
                  <a:srgbClr val="182430"/>
                </a:solidFill>
                <a:latin typeface="Aptos"/>
              </a:rPr>
              <a:t>• Real-time messaging and interview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703320"/>
            <a:ext cx="5285232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931920"/>
            <a:ext cx="4709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2B3E"/>
                </a:solidFill>
                <a:latin typeface="Aptos"/>
              </a:rPr>
              <a:t>KEY TECHNOLOGY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279392"/>
            <a:ext cx="4617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2430"/>
                </a:solidFill>
                <a:latin typeface="Aptos"/>
              </a:rPr>
              <a:t>React • TypeScript • Tailwind CSS
Java • Spring Boot • Spring Data JPA
Spring Cloud • Eureka • Gateway • Security • JWT
PostgreSQL • Kafka • Docker • GitHub Actions • AWS • Terraform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806440"/>
            <a:ext cx="10652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Selected references: Yoganarasimhan (2013) • Luca (2017) • Gu &amp; Zhu (2021) • Management Science (2023)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C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974"/>
                </a:solidFill>
                <a:latin typeface="Aptos"/>
              </a:rPr>
              <a:t>KLH CSE  •  SOA Project Review –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7E79"/>
                </a:solidFill>
                <a:latin typeface="Aptos"/>
              </a:rPr>
              <a:t>TrustHire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97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1257</Words>
  <Application>Microsoft Office PowerPoint</Application>
  <PresentationFormat>Widescreen</PresentationFormat>
  <Paragraphs>273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AMARNATH</dc:creator>
  <cp:keywords/>
  <dc:description>generated using python-pptx</dc:description>
  <cp:lastModifiedBy>amargsp1406@outlook.com</cp:lastModifiedBy>
  <cp:revision>2</cp:revision>
  <dcterms:created xsi:type="dcterms:W3CDTF">2013-01-27T09:14:16Z</dcterms:created>
  <dcterms:modified xsi:type="dcterms:W3CDTF">2026-08-27T01:51:50Z</dcterms:modified>
  <cp:category/>
</cp:coreProperties>
</file>